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3"/>
    <p:sldId id="264" r:id="rId4"/>
    <p:sldId id="260" r:id="rId5"/>
    <p:sldId id="267" r:id="rId6"/>
    <p:sldId id="256" r:id="rId7"/>
    <p:sldId id="258" r:id="rId8"/>
    <p:sldId id="263" r:id="rId9"/>
    <p:sldId id="271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c9dfece-28ed-4f95-8589-8a0b0fe83fd8}">
          <p14:sldIdLst>
            <p14:sldId id="261"/>
            <p14:sldId id="264"/>
            <p14:sldId id="260"/>
            <p14:sldId id="267"/>
            <p14:sldId id="256"/>
            <p14:sldId id="258"/>
            <p14:sldId id="263"/>
            <p14:sldId id="27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2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4455" y="0"/>
            <a:ext cx="9568815" cy="102235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p>
            <a:r>
              <a:rPr lang="en-US" altLang="zh-CN"/>
              <a:t>   </a:t>
            </a:r>
            <a:r>
              <a:rPr lang="zh-CN" altLang="en-US"/>
              <a:t>机械制图</a:t>
            </a:r>
            <a:r>
              <a:rPr lang="zh-CN" altLang="en-US">
                <a:solidFill>
                  <a:srgbClr val="FF0000"/>
                </a:solidFill>
              </a:rPr>
              <a:t>第一视角</a:t>
            </a:r>
            <a:r>
              <a:rPr lang="zh-CN" altLang="en-US"/>
              <a:t>和</a:t>
            </a:r>
            <a:r>
              <a:rPr lang="zh-CN" altLang="en-US">
                <a:solidFill>
                  <a:srgbClr val="FF0000"/>
                </a:solidFill>
              </a:rPr>
              <a:t>第三视角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区别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3545" y="1021715"/>
            <a:ext cx="11364595" cy="6104890"/>
          </a:xfrm>
          <a:solidFill>
            <a:schemeClr val="tx2">
              <a:lumMod val="40000"/>
              <a:lumOff val="60000"/>
            </a:schemeClr>
          </a:solidFill>
        </p:spPr>
        <p:txBody>
          <a:bodyPr>
            <a:normAutofit fontScale="25000"/>
          </a:bodyPr>
          <a:p>
            <a:r>
              <a:rPr lang="zh-CN" altLang="en-US" sz="10285"/>
              <a:t>1、理解方式不同。</a:t>
            </a:r>
            <a:endParaRPr lang="zh-CN" altLang="en-US" sz="10285"/>
          </a:p>
          <a:p>
            <a:r>
              <a:rPr lang="zh-CN" altLang="en-US" sz="10285"/>
              <a:t>第三视角法，也称第三象限法，俗称</a:t>
            </a:r>
            <a:r>
              <a:rPr lang="zh-CN" altLang="en-US" sz="10285">
                <a:solidFill>
                  <a:srgbClr val="FF0000"/>
                </a:solidFill>
              </a:rPr>
              <a:t>镜面法</a:t>
            </a:r>
            <a:r>
              <a:rPr lang="zh-CN" altLang="en-US" sz="10285"/>
              <a:t>。第三视角可以理解为物不动人动，我们需要哪一边的视图就需要从哪一面去看。</a:t>
            </a:r>
            <a:r>
              <a:rPr lang="en-US" altLang="zh-CN" sz="10285">
                <a:solidFill>
                  <a:srgbClr val="FF0000"/>
                </a:solidFill>
              </a:rPr>
              <a:t>(</a:t>
            </a:r>
            <a:r>
              <a:rPr lang="zh-CN" altLang="zh-CN" sz="10285">
                <a:solidFill>
                  <a:srgbClr val="FF0000"/>
                </a:solidFill>
              </a:rPr>
              <a:t>人</a:t>
            </a:r>
            <a:r>
              <a:rPr lang="en-US" altLang="zh-CN" sz="10285">
                <a:solidFill>
                  <a:srgbClr val="FF0000"/>
                </a:solidFill>
              </a:rPr>
              <a:t>--</a:t>
            </a:r>
            <a:r>
              <a:rPr lang="zh-CN" altLang="en-US" sz="10285">
                <a:solidFill>
                  <a:srgbClr val="FF0000"/>
                </a:solidFill>
              </a:rPr>
              <a:t>视图</a:t>
            </a:r>
            <a:r>
              <a:rPr lang="en-US" altLang="zh-CN" sz="10285">
                <a:solidFill>
                  <a:srgbClr val="FF0000"/>
                </a:solidFill>
              </a:rPr>
              <a:t>--</a:t>
            </a:r>
            <a:r>
              <a:rPr lang="zh-CN" altLang="en-US" sz="10285">
                <a:solidFill>
                  <a:srgbClr val="FF0000"/>
                </a:solidFill>
              </a:rPr>
              <a:t>主体</a:t>
            </a:r>
            <a:r>
              <a:rPr lang="en-US" altLang="zh-CN" sz="10285">
                <a:solidFill>
                  <a:srgbClr val="FF0000"/>
                </a:solidFill>
              </a:rPr>
              <a:t>)</a:t>
            </a:r>
            <a:endParaRPr lang="zh-CN" altLang="en-US" sz="10285"/>
          </a:p>
          <a:p>
            <a:r>
              <a:rPr lang="zh-CN" altLang="en-US" sz="10285"/>
              <a:t>第一视角法，也称第一象限法，俗称</a:t>
            </a:r>
            <a:r>
              <a:rPr lang="zh-CN" altLang="en-US" sz="10285">
                <a:solidFill>
                  <a:srgbClr val="FF0000"/>
                </a:solidFill>
              </a:rPr>
              <a:t>投影法</a:t>
            </a:r>
            <a:r>
              <a:rPr lang="zh-CN" altLang="en-US" sz="10285"/>
              <a:t>。第一视角刚可以理解为人不动，物动，我们需要哪个视图就可以把物体“</a:t>
            </a:r>
            <a:r>
              <a:rPr lang="zh-CN" altLang="en-US" sz="10285">
                <a:solidFill>
                  <a:srgbClr val="FF0000"/>
                </a:solidFill>
              </a:rPr>
              <a:t>放倒</a:t>
            </a:r>
            <a:r>
              <a:rPr lang="zh-CN" altLang="en-US" sz="10285"/>
              <a:t>”到那个视图中。</a:t>
            </a:r>
            <a:endParaRPr lang="zh-CN" altLang="en-US" sz="10285"/>
          </a:p>
          <a:p>
            <a:pPr marL="0" indent="0">
              <a:buNone/>
            </a:pPr>
            <a:r>
              <a:rPr lang="en-US" altLang="zh-CN" sz="10285">
                <a:solidFill>
                  <a:srgbClr val="FF0000"/>
                </a:solidFill>
                <a:sym typeface="+mn-ea"/>
              </a:rPr>
              <a:t>  (</a:t>
            </a:r>
            <a:r>
              <a:rPr lang="zh-CN" altLang="zh-CN" sz="10285">
                <a:solidFill>
                  <a:srgbClr val="FF0000"/>
                </a:solidFill>
                <a:sym typeface="+mn-ea"/>
              </a:rPr>
              <a:t>人</a:t>
            </a:r>
            <a:r>
              <a:rPr lang="en-US" altLang="zh-CN" sz="10285">
                <a:solidFill>
                  <a:srgbClr val="FF0000"/>
                </a:solidFill>
                <a:sym typeface="+mn-ea"/>
              </a:rPr>
              <a:t>--</a:t>
            </a:r>
            <a:r>
              <a:rPr lang="zh-CN" altLang="en-US" sz="10285">
                <a:solidFill>
                  <a:srgbClr val="FF0000"/>
                </a:solidFill>
                <a:sym typeface="+mn-ea"/>
              </a:rPr>
              <a:t>主体</a:t>
            </a:r>
            <a:r>
              <a:rPr lang="en-US" altLang="zh-CN" sz="10285">
                <a:solidFill>
                  <a:srgbClr val="FF0000"/>
                </a:solidFill>
                <a:sym typeface="+mn-ea"/>
              </a:rPr>
              <a:t>--</a:t>
            </a:r>
            <a:r>
              <a:rPr lang="zh-CN" altLang="en-US" sz="10285">
                <a:solidFill>
                  <a:srgbClr val="FF0000"/>
                </a:solidFill>
                <a:sym typeface="+mn-ea"/>
              </a:rPr>
              <a:t>视图</a:t>
            </a:r>
            <a:r>
              <a:rPr lang="en-US" altLang="zh-CN" sz="10285">
                <a:solidFill>
                  <a:srgbClr val="FF0000"/>
                </a:solidFill>
                <a:sym typeface="+mn-ea"/>
              </a:rPr>
              <a:t>)</a:t>
            </a:r>
            <a:endParaRPr lang="zh-CN" altLang="en-US" sz="10285"/>
          </a:p>
          <a:p>
            <a:r>
              <a:rPr lang="zh-CN" altLang="en-US" sz="10285"/>
              <a:t>2、象限不同。</a:t>
            </a:r>
            <a:endParaRPr lang="zh-CN" altLang="en-US" sz="10285"/>
          </a:p>
          <a:p>
            <a:r>
              <a:rPr lang="zh-CN" altLang="en-US" sz="10285"/>
              <a:t>第一视角物体被想象在第一象限，物体位于观察者和投影面之间。第三视角物体被想象在第三象限，投影面位于观察者和物体之间。</a:t>
            </a:r>
            <a:endParaRPr lang="zh-CN" altLang="en-US" sz="10285"/>
          </a:p>
          <a:p>
            <a:r>
              <a:rPr lang="zh-CN" altLang="en-US" sz="10285"/>
              <a:t>3、视图位置不同。</a:t>
            </a:r>
            <a:endParaRPr lang="zh-CN" altLang="en-US" sz="10285"/>
          </a:p>
          <a:p>
            <a:r>
              <a:rPr lang="zh-CN" altLang="en-US" sz="10285"/>
              <a:t>第一视角投影面假设不透明，画视图时俯视图位于主视图的下面，右视图位于主视图的左边。第三视角投影面假设是透明的，画视图时俯视图位于主视图的上面，右视图位于主视图的右边。</a:t>
            </a:r>
            <a:endParaRPr lang="zh-CN" altLang="en-US" sz="10285"/>
          </a:p>
          <a:p>
            <a:r>
              <a:rPr lang="en-US" altLang="zh-CN" sz="10285"/>
              <a:t>4</a:t>
            </a:r>
            <a:r>
              <a:rPr lang="zh-CN" altLang="en-US" sz="10285"/>
              <a:t>、</a:t>
            </a:r>
            <a:r>
              <a:rPr lang="zh-CN" altLang="en-US" sz="10285">
                <a:solidFill>
                  <a:srgbClr val="FF0000"/>
                </a:solidFill>
              </a:rPr>
              <a:t>我国机械制图</a:t>
            </a:r>
            <a:r>
              <a:rPr lang="zh-CN" altLang="en-US" sz="10285"/>
              <a:t>标准用的就是</a:t>
            </a:r>
            <a:r>
              <a:rPr lang="zh-CN" altLang="en-US" sz="10285">
                <a:solidFill>
                  <a:srgbClr val="FF0000"/>
                </a:solidFill>
              </a:rPr>
              <a:t>第一视角</a:t>
            </a:r>
            <a:r>
              <a:rPr lang="zh-CN" altLang="en-US" sz="10285"/>
              <a:t>，三个基本视图分别是</a:t>
            </a:r>
            <a:r>
              <a:rPr lang="zh-CN" altLang="en-US" sz="10285">
                <a:solidFill>
                  <a:srgbClr val="FF0000"/>
                </a:solidFill>
              </a:rPr>
              <a:t>主、俯、左</a:t>
            </a:r>
            <a:r>
              <a:rPr lang="zh-CN" altLang="en-US">
                <a:solidFill>
                  <a:srgbClr val="FF0000"/>
                </a:solidFill>
              </a:rPr>
              <a:t>。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50495"/>
            <a:ext cx="10515600" cy="72707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p>
            <a:r>
              <a:rPr lang="en-US" altLang="zh-CN"/>
              <a:t>               </a:t>
            </a:r>
            <a:r>
              <a:rPr lang="zh-CN" altLang="en-US"/>
              <a:t>三视图之间的方位对应关系</a:t>
            </a:r>
            <a:endParaRPr lang="zh-CN" altLang="en-US"/>
          </a:p>
        </p:txBody>
      </p:sp>
      <p:pic>
        <p:nvPicPr>
          <p:cNvPr id="6" name="内容占位符 5" descr="6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59180" y="1022350"/>
            <a:ext cx="7019925" cy="5864225"/>
          </a:xfrm>
          <a:prstGeom prst="rect">
            <a:avLst/>
          </a:prstGeom>
        </p:spPr>
      </p:pic>
      <p:pic>
        <p:nvPicPr>
          <p:cNvPr id="3" name="图片 2" descr="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105" y="1611630"/>
            <a:ext cx="4029075" cy="42494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p>
            <a:r>
              <a:rPr lang="en-US" altLang="zh-CN"/>
              <a:t>                           </a:t>
            </a:r>
            <a:r>
              <a:rPr lang="zh-CN" altLang="zh-CN"/>
              <a:t>第一角法</a:t>
            </a:r>
            <a:endParaRPr lang="zh-CN" altLang="zh-CN"/>
          </a:p>
        </p:txBody>
      </p:sp>
      <p:pic>
        <p:nvPicPr>
          <p:cNvPr id="4" name="内容占位符 3" descr="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97280" y="1691005"/>
            <a:ext cx="9808210" cy="50082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81280"/>
            <a:ext cx="10515600" cy="1072515"/>
          </a:xfrm>
          <a:solidFill>
            <a:schemeClr val="accent1"/>
          </a:solidFill>
        </p:spPr>
        <p:txBody>
          <a:bodyPr/>
          <a:p>
            <a:r>
              <a:rPr lang="en-US" altLang="zh-CN"/>
              <a:t>             </a:t>
            </a:r>
            <a:r>
              <a:rPr lang="zh-CN" altLang="zh-CN"/>
              <a:t>第一视角与第三视角的区别</a:t>
            </a:r>
            <a:endParaRPr lang="zh-CN" altLang="zh-CN"/>
          </a:p>
        </p:txBody>
      </p:sp>
      <p:pic>
        <p:nvPicPr>
          <p:cNvPr id="4" name="内容占位符 3" descr="3-5 视角及工程视图区分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8305" y="1153795"/>
            <a:ext cx="11055985" cy="56108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4765"/>
            <a:ext cx="9144000" cy="118173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p>
            <a:r>
              <a:rPr lang="zh-CN" altLang="zh-CN"/>
              <a:t>第一角法的六个基本视图</a:t>
            </a:r>
            <a:endParaRPr lang="zh-CN" altLang="zh-CN" sz="50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365" y="1398270"/>
            <a:ext cx="9144000" cy="54362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9135" y="9525"/>
            <a:ext cx="10515600" cy="847725"/>
          </a:xfrm>
          <a:solidFill>
            <a:srgbClr val="92D050"/>
          </a:solidFill>
        </p:spPr>
        <p:txBody>
          <a:bodyPr>
            <a:normAutofit/>
          </a:bodyPr>
          <a:p>
            <a:r>
              <a:rPr lang="en-US" altLang="zh-CN"/>
              <a:t>     </a:t>
            </a:r>
            <a:r>
              <a:rPr lang="zh-CN" altLang="en-US"/>
              <a:t>第一角法和第三角法的不同之处</a:t>
            </a:r>
            <a:endParaRPr lang="en-US" altLang="zh-CN"/>
          </a:p>
        </p:txBody>
      </p:sp>
      <p:pic>
        <p:nvPicPr>
          <p:cNvPr id="4" name="内容占位符 3" descr="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98345" y="1082040"/>
            <a:ext cx="8357235" cy="48844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815"/>
          </a:xfrm>
          <a:solidFill>
            <a:schemeClr val="accent4"/>
          </a:solidFill>
        </p:spPr>
        <p:txBody>
          <a:bodyPr/>
          <a:p>
            <a:r>
              <a:rPr lang="en-US" altLang="zh-CN"/>
              <a:t>            </a:t>
            </a:r>
            <a:r>
              <a:rPr lang="zh-CN" altLang="en-US"/>
              <a:t>工厂常用形位公差及符号</a:t>
            </a:r>
            <a:endParaRPr lang="zh-CN" altLang="en-US"/>
          </a:p>
        </p:txBody>
      </p:sp>
      <p:pic>
        <p:nvPicPr>
          <p:cNvPr id="4" name="内容占位符 3" descr="图片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31545" y="1171575"/>
            <a:ext cx="9683750" cy="56603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14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p>
            <a:pPr algn="ctr"/>
            <a:r>
              <a:rPr lang="zh-CN" altLang="zh-CN"/>
              <a:t>常用符号和缩写词</a:t>
            </a:r>
            <a:endParaRPr lang="zh-CN" altLang="zh-CN"/>
          </a:p>
        </p:txBody>
      </p:sp>
      <p:pic>
        <p:nvPicPr>
          <p:cNvPr id="4" name="内容占位符 3" descr="1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04085" y="1041400"/>
            <a:ext cx="7782560" cy="581723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9161,&quot;width&quot;:12256}"/>
</p:tagLst>
</file>

<file path=ppt/tags/tag2.xml><?xml version="1.0" encoding="utf-8"?>
<p:tagLst xmlns:p="http://schemas.openxmlformats.org/presentationml/2006/main">
  <p:tag name="COMMONDATA" val="eyJoZGlkIjoiYzk2YjgwYjJiYTEzOWQwMDRmZjQzM2IwZDQxMDk1Zm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</Words>
  <Application>WPS 演示</Application>
  <PresentationFormat>宽屏</PresentationFormat>
  <Paragraphs>26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Office 主题</vt:lpstr>
      <vt:lpstr>   机械制图第一视角和第三视角的区别</vt:lpstr>
      <vt:lpstr>               三视图之间的方位对应关系</vt:lpstr>
      <vt:lpstr>                           第一角法</vt:lpstr>
      <vt:lpstr>             第一视角与第三视角的区别</vt:lpstr>
      <vt:lpstr>第一角法的六个基本视图</vt:lpstr>
      <vt:lpstr>     第一角法和第三角法的不同之处</vt:lpstr>
      <vt:lpstr>            工厂常用形位公差及符号</vt:lpstr>
      <vt:lpstr>常用符号和缩写词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M℡指缝de青春ㄨ·</cp:lastModifiedBy>
  <cp:revision>9</cp:revision>
  <dcterms:created xsi:type="dcterms:W3CDTF">2022-09-05T11:54:00Z</dcterms:created>
  <dcterms:modified xsi:type="dcterms:W3CDTF">2025-09-22T01:42:50Z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5A727A13CFB94CF7A583213C7A0D2466</vt:lpwstr>
  </property>
</Properties>
</file>