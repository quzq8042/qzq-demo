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58" r:id="rId4"/>
    <p:sldId id="261" r:id="rId5"/>
    <p:sldId id="256" r:id="rId6"/>
    <p:sldId id="257" r:id="rId7"/>
    <p:sldId id="262" r:id="rId8"/>
    <p:sldId id="266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4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5.jpeg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9008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75565"/>
            <a:ext cx="10968990" cy="101219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p>
            <a:pPr algn="ctr"/>
            <a:r>
              <a:rPr lang="zh-CN" altLang="zh-CN" sz="5400">
                <a:solidFill>
                  <a:schemeClr val="tx2"/>
                </a:solidFill>
              </a:rPr>
              <a:t>数控加工中心分类及系统</a:t>
            </a:r>
            <a:endParaRPr lang="zh-CN" altLang="zh-CN" sz="540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87120"/>
            <a:ext cx="10968990" cy="5771515"/>
          </a:xfrm>
          <a:solidFill>
            <a:schemeClr val="accent2"/>
          </a:solidFill>
        </p:spPr>
        <p:txBody>
          <a:bodyPr>
            <a:normAutofit fontScale="80000"/>
          </a:bodyPr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加工中心分为立式加工中心（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VMC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）和卧式加工中心（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HMC)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：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本章课程以常见三轴立式加工中心（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VMC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）进行讲解；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无论是什么系统，都可以采用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UG/Mastercam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软件，进行编程；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常见的三轴机床系统：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b="1">
                <a:solidFill>
                  <a:schemeClr val="tx1"/>
                </a:solidFill>
                <a:sym typeface="+mn-ea"/>
              </a:rPr>
              <a:t>法兰克（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Fanuc)</a:t>
            </a:r>
            <a:endParaRPr lang="en-US" altLang="zh-CN" b="1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b="1">
                <a:solidFill>
                  <a:schemeClr val="tx1"/>
                </a:solidFill>
                <a:sym typeface="+mn-ea"/>
              </a:rPr>
              <a:t>三菱</a:t>
            </a:r>
            <a:endParaRPr lang="zh-CN" altLang="zh-CN" b="1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b="1">
                <a:solidFill>
                  <a:schemeClr val="tx1"/>
                </a:solidFill>
                <a:sym typeface="+mn-ea"/>
              </a:rPr>
              <a:t>新代（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SYNTEC)</a:t>
            </a:r>
            <a:endParaRPr lang="zh-CN" altLang="zh-CN" b="1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b="1">
                <a:solidFill>
                  <a:schemeClr val="tx1"/>
                </a:solidFill>
                <a:sym typeface="+mn-ea"/>
              </a:rPr>
              <a:t>西门子</a:t>
            </a:r>
            <a:endParaRPr lang="zh-CN" altLang="zh-CN" b="1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b="1">
                <a:solidFill>
                  <a:schemeClr val="tx1"/>
                </a:solidFill>
                <a:sym typeface="+mn-ea"/>
              </a:rPr>
              <a:t>哈斯</a:t>
            </a:r>
            <a:endParaRPr lang="zh-CN" altLang="zh-CN" b="1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b="1">
                <a:solidFill>
                  <a:schemeClr val="tx1"/>
                </a:solidFill>
                <a:sym typeface="+mn-ea"/>
              </a:rPr>
              <a:t>海德汉</a:t>
            </a:r>
            <a:endParaRPr lang="zh-CN" altLang="zh-CN" b="1">
              <a:solidFill>
                <a:schemeClr val="tx1"/>
              </a:solidFill>
            </a:endParaRP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92070" y="608330"/>
            <a:ext cx="6582410" cy="705485"/>
          </a:xfrm>
        </p:spPr>
        <p:txBody>
          <a:bodyPr/>
          <a:p>
            <a:endParaRPr lang="zh-CN" altLang="en-US"/>
          </a:p>
        </p:txBody>
      </p:sp>
      <p:pic>
        <p:nvPicPr>
          <p:cNvPr id="7" name="内容占位符 6" descr="170588520046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51585" y="0"/>
            <a:ext cx="9638665" cy="6858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-133985"/>
            <a:ext cx="9799320" cy="86233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0000"/>
          </a:bodyPr>
          <a:p>
            <a:r>
              <a:rPr lang="en-US" altLang="zh-CN"/>
              <a:t>MCS</a:t>
            </a:r>
            <a:r>
              <a:rPr lang="zh-CN" altLang="zh-CN"/>
              <a:t>工件座标系设置要点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88290" y="647700"/>
            <a:ext cx="11675745" cy="6482080"/>
          </a:xfrm>
          <a:solidFill>
            <a:schemeClr val="tx1"/>
          </a:solidFill>
        </p:spPr>
        <p:txBody>
          <a:bodyPr>
            <a:normAutofit fontScale="70000"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       NX</a:t>
            </a:r>
            <a:r>
              <a:rPr lang="zh-CN" altLang="en-US">
                <a:solidFill>
                  <a:schemeClr val="bg1"/>
                </a:solidFill>
              </a:rPr>
              <a:t>软件</a:t>
            </a:r>
            <a:r>
              <a:rPr lang="en-US" altLang="zh-CN">
                <a:solidFill>
                  <a:schemeClr val="bg1"/>
                </a:solidFill>
              </a:rPr>
              <a:t>MCS</a:t>
            </a:r>
            <a:r>
              <a:rPr lang="zh-CN" altLang="en-US">
                <a:solidFill>
                  <a:schemeClr val="bg1"/>
                </a:solidFill>
              </a:rPr>
              <a:t>的位置，就是机床的座标系的位置，</a:t>
            </a:r>
            <a:r>
              <a:rPr lang="zh-CN" altLang="en-US">
                <a:solidFill>
                  <a:srgbClr val="FF0000"/>
                </a:solidFill>
              </a:rPr>
              <a:t>也称为加工座标系</a:t>
            </a:r>
            <a:r>
              <a:rPr lang="zh-CN" altLang="en-US">
                <a:solidFill>
                  <a:schemeClr val="bg1"/>
                </a:solidFill>
              </a:rPr>
              <a:t>，用于</a:t>
            </a:r>
            <a:r>
              <a:rPr lang="zh-CN" altLang="en-US">
                <a:solidFill>
                  <a:srgbClr val="FF0000"/>
                </a:solidFill>
              </a:rPr>
              <a:t>计算程序数据的原点和零件放置的位置</a:t>
            </a:r>
            <a:r>
              <a:rPr lang="zh-CN" altLang="en-US">
                <a:solidFill>
                  <a:schemeClr val="bg1"/>
                </a:solidFill>
              </a:rPr>
              <a:t>，两者一定要一致</a:t>
            </a:r>
            <a:r>
              <a:rPr lang="en-US" altLang="zh-CN">
                <a:solidFill>
                  <a:schemeClr val="bg1"/>
                </a:solidFill>
              </a:rPr>
              <a:t>.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zh-CN" altLang="en-US">
                <a:solidFill>
                  <a:srgbClr val="FF0000"/>
                </a:solidFill>
              </a:rPr>
              <a:t>一：设置要点：</a:t>
            </a:r>
            <a:endParaRPr lang="zh-CN" altLang="en-US">
              <a:solidFill>
                <a:srgbClr val="FF0000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1.</a:t>
            </a:r>
            <a:r>
              <a:rPr lang="zh-CN" altLang="en-US">
                <a:solidFill>
                  <a:schemeClr val="bg1"/>
                </a:solidFill>
              </a:rPr>
              <a:t>应设置在实际机床方便分中或测量的位置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2.MCS</a:t>
            </a:r>
            <a:r>
              <a:rPr lang="zh-CN" altLang="en-US">
                <a:solidFill>
                  <a:schemeClr val="bg1"/>
                </a:solidFill>
              </a:rPr>
              <a:t>坐标系平面应该与机床平面重合（三轴）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3.</a:t>
            </a:r>
            <a:r>
              <a:rPr lang="zh-CN" altLang="en-US">
                <a:solidFill>
                  <a:schemeClr val="bg1"/>
                </a:solidFill>
              </a:rPr>
              <a:t>通常情况下零件长方向为</a:t>
            </a:r>
            <a:r>
              <a:rPr lang="en-US" altLang="zh-CN">
                <a:solidFill>
                  <a:schemeClr val="bg1"/>
                </a:solidFill>
              </a:rPr>
              <a:t>X</a:t>
            </a:r>
            <a:r>
              <a:rPr lang="zh-CN" altLang="en-US">
                <a:solidFill>
                  <a:schemeClr val="bg1"/>
                </a:solidFill>
              </a:rPr>
              <a:t>方向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4.</a:t>
            </a:r>
            <a:r>
              <a:rPr lang="zh-CN" altLang="en-US">
                <a:solidFill>
                  <a:schemeClr val="bg1"/>
                </a:solidFill>
              </a:rPr>
              <a:t>应与实际工件摆放定位基准重合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5.</a:t>
            </a:r>
            <a:r>
              <a:rPr lang="zh-CN" altLang="en-US">
                <a:solidFill>
                  <a:schemeClr val="bg1"/>
                </a:solidFill>
              </a:rPr>
              <a:t>四方毛坯应设置在毛坯的中心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6.</a:t>
            </a:r>
            <a:r>
              <a:rPr lang="zh-CN" altLang="en-US">
                <a:solidFill>
                  <a:schemeClr val="bg1"/>
                </a:solidFill>
              </a:rPr>
              <a:t>圆形时应设置在圆心点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zh-CN" altLang="en-US">
                <a:solidFill>
                  <a:srgbClr val="FF0000"/>
                </a:solidFill>
              </a:rPr>
              <a:t>二：常见工件座标系设置方式：</a:t>
            </a:r>
            <a:endParaRPr lang="zh-CN" altLang="en-US">
              <a:solidFill>
                <a:srgbClr val="FF0000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1.</a:t>
            </a:r>
            <a:r>
              <a:rPr lang="zh-CN" altLang="en-US">
                <a:solidFill>
                  <a:schemeClr val="bg1"/>
                </a:solidFill>
              </a:rPr>
              <a:t>四面分中，对顶为零（或底部为零）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2.</a:t>
            </a:r>
            <a:r>
              <a:rPr lang="zh-CN" altLang="en-US">
                <a:solidFill>
                  <a:schemeClr val="bg1"/>
                </a:solidFill>
              </a:rPr>
              <a:t>圆心顶面为零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3.</a:t>
            </a:r>
            <a:r>
              <a:rPr lang="zh-CN" altLang="en-US">
                <a:solidFill>
                  <a:schemeClr val="bg1"/>
                </a:solidFill>
              </a:rPr>
              <a:t>单边分中（</a:t>
            </a:r>
            <a:r>
              <a:rPr lang="en-US" altLang="zh-CN">
                <a:solidFill>
                  <a:schemeClr val="bg1"/>
                </a:solidFill>
              </a:rPr>
              <a:t>XY</a:t>
            </a:r>
            <a:r>
              <a:rPr lang="zh-CN" altLang="en-US">
                <a:solidFill>
                  <a:schemeClr val="bg1"/>
                </a:solidFill>
              </a:rPr>
              <a:t>）对顶为零（</a:t>
            </a:r>
            <a:r>
              <a:rPr lang="en-US" altLang="zh-CN">
                <a:solidFill>
                  <a:schemeClr val="bg1"/>
                </a:solidFill>
              </a:rPr>
              <a:t>XY</a:t>
            </a:r>
            <a:r>
              <a:rPr lang="zh-CN" altLang="en-US">
                <a:solidFill>
                  <a:schemeClr val="bg1"/>
                </a:solidFill>
              </a:rPr>
              <a:t>角点）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4.</a:t>
            </a:r>
            <a:r>
              <a:rPr lang="zh-CN" altLang="en-US">
                <a:solidFill>
                  <a:schemeClr val="bg1"/>
                </a:solidFill>
              </a:rPr>
              <a:t>特殊情况（如</a:t>
            </a:r>
            <a:r>
              <a:rPr lang="en-US" altLang="zh-CN">
                <a:solidFill>
                  <a:schemeClr val="bg1"/>
                </a:solidFill>
              </a:rPr>
              <a:t>X</a:t>
            </a:r>
            <a:r>
              <a:rPr lang="zh-CN" altLang="en-US">
                <a:solidFill>
                  <a:schemeClr val="bg1"/>
                </a:solidFill>
              </a:rPr>
              <a:t>单边</a:t>
            </a:r>
            <a:r>
              <a:rPr lang="en-US" altLang="zh-CN">
                <a:solidFill>
                  <a:schemeClr val="bg1"/>
                </a:solidFill>
              </a:rPr>
              <a:t>Y</a:t>
            </a:r>
            <a:r>
              <a:rPr lang="zh-CN" altLang="en-US">
                <a:solidFill>
                  <a:schemeClr val="bg1"/>
                </a:solidFill>
              </a:rPr>
              <a:t>分中，或</a:t>
            </a:r>
            <a:r>
              <a:rPr lang="en-US" altLang="zh-CN">
                <a:solidFill>
                  <a:schemeClr val="bg1"/>
                </a:solidFill>
              </a:rPr>
              <a:t>X</a:t>
            </a:r>
            <a:r>
              <a:rPr lang="zh-CN" altLang="en-US">
                <a:solidFill>
                  <a:schemeClr val="bg1"/>
                </a:solidFill>
              </a:rPr>
              <a:t>分中</a:t>
            </a:r>
            <a:r>
              <a:rPr lang="en-US" altLang="zh-CN">
                <a:solidFill>
                  <a:schemeClr val="bg1"/>
                </a:solidFill>
              </a:rPr>
              <a:t>Y</a:t>
            </a:r>
            <a:r>
              <a:rPr lang="zh-CN" altLang="en-US">
                <a:solidFill>
                  <a:schemeClr val="bg1"/>
                </a:solidFill>
              </a:rPr>
              <a:t>单边）对顶为零</a:t>
            </a:r>
            <a:endParaRPr lang="zh-CN" altLang="en-US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5.</a:t>
            </a:r>
            <a:r>
              <a:rPr lang="zh-CN" altLang="en-US">
                <a:solidFill>
                  <a:schemeClr val="bg1"/>
                </a:solidFill>
              </a:rPr>
              <a:t>异形零件可以以夹具为基准。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35"/>
            <a:ext cx="10968990" cy="92583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p>
            <a:pPr algn="ctr"/>
            <a:r>
              <a:rPr lang="zh-CN" altLang="zh-CN" sz="5400"/>
              <a:t>加工视频的含义</a:t>
            </a:r>
            <a:endParaRPr lang="zh-CN" altLang="zh-CN" sz="5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02665"/>
            <a:ext cx="10968990" cy="5855970"/>
          </a:xfrm>
          <a:blipFill>
            <a:blip r:embed="rId1"/>
          </a:blipFill>
        </p:spPr>
        <p:txBody>
          <a:bodyPr>
            <a:normAutofit lnSpcReduction="10000"/>
          </a:bodyPr>
          <a:p>
            <a:r>
              <a:rPr lang="en-US" altLang="zh-CN" sz="4000">
                <a:solidFill>
                  <a:srgbClr val="FF0000"/>
                </a:solidFill>
              </a:rPr>
              <a:t>1.</a:t>
            </a:r>
            <a:r>
              <a:rPr lang="zh-CN" altLang="en-US" sz="4000">
                <a:solidFill>
                  <a:srgbClr val="FF0000"/>
                </a:solidFill>
              </a:rPr>
              <a:t>程序顺序视图：</a:t>
            </a:r>
            <a:r>
              <a:rPr lang="en-US" altLang="zh-CN" sz="4000">
                <a:solidFill>
                  <a:srgbClr val="FF0000"/>
                </a:solidFill>
              </a:rPr>
              <a:t>       </a:t>
            </a:r>
            <a:r>
              <a:rPr lang="zh-CN" altLang="en-US" sz="4000">
                <a:solidFill>
                  <a:srgbClr val="FF0000"/>
                </a:solidFill>
              </a:rPr>
              <a:t>用于管理刀路</a:t>
            </a:r>
            <a:endParaRPr lang="zh-CN" altLang="en-US" sz="4000">
              <a:solidFill>
                <a:srgbClr val="FF0000"/>
              </a:solidFill>
            </a:endParaRPr>
          </a:p>
          <a:p>
            <a:r>
              <a:rPr lang="en-US" altLang="zh-CN" sz="4000">
                <a:solidFill>
                  <a:srgbClr val="FF0000"/>
                </a:solidFill>
              </a:rPr>
              <a:t>2.</a:t>
            </a:r>
            <a:r>
              <a:rPr lang="zh-CN" altLang="en-US" sz="4000">
                <a:solidFill>
                  <a:srgbClr val="FF0000"/>
                </a:solidFill>
              </a:rPr>
              <a:t>机床视图：</a:t>
            </a:r>
            <a:r>
              <a:rPr lang="en-US" altLang="zh-CN" sz="4000">
                <a:solidFill>
                  <a:srgbClr val="FF0000"/>
                </a:solidFill>
              </a:rPr>
              <a:t>             </a:t>
            </a:r>
            <a:r>
              <a:rPr lang="zh-CN" altLang="en-US" sz="4000">
                <a:solidFill>
                  <a:srgbClr val="FF0000"/>
                </a:solidFill>
              </a:rPr>
              <a:t>用于管理刀具</a:t>
            </a:r>
            <a:endParaRPr lang="zh-CN" altLang="en-US" sz="4000">
              <a:solidFill>
                <a:srgbClr val="FF0000"/>
              </a:solidFill>
            </a:endParaRPr>
          </a:p>
          <a:p>
            <a:r>
              <a:rPr lang="en-US" altLang="zh-CN" sz="4000">
                <a:solidFill>
                  <a:srgbClr val="FF0000"/>
                </a:solidFill>
              </a:rPr>
              <a:t>3.</a:t>
            </a:r>
            <a:r>
              <a:rPr lang="zh-CN" altLang="en-US" sz="4000">
                <a:solidFill>
                  <a:srgbClr val="FF0000"/>
                </a:solidFill>
              </a:rPr>
              <a:t>几何视图：</a:t>
            </a:r>
            <a:r>
              <a:rPr lang="en-US" altLang="zh-CN" sz="4000">
                <a:solidFill>
                  <a:srgbClr val="FF0000"/>
                </a:solidFill>
              </a:rPr>
              <a:t>             </a:t>
            </a:r>
            <a:r>
              <a:rPr lang="zh-CN" altLang="en-US" sz="4000">
                <a:solidFill>
                  <a:srgbClr val="FF0000"/>
                </a:solidFill>
              </a:rPr>
              <a:t>用于管理工件座标系与加工毛坯</a:t>
            </a:r>
            <a:endParaRPr lang="zh-CN" altLang="en-US" sz="4000">
              <a:solidFill>
                <a:srgbClr val="FF0000"/>
              </a:solidFill>
            </a:endParaRPr>
          </a:p>
          <a:p>
            <a:r>
              <a:rPr lang="en-US" altLang="zh-CN" sz="4000">
                <a:solidFill>
                  <a:srgbClr val="FF0000"/>
                </a:solidFill>
              </a:rPr>
              <a:t>4.</a:t>
            </a:r>
            <a:r>
              <a:rPr lang="zh-CN" altLang="en-US" sz="4000">
                <a:solidFill>
                  <a:srgbClr val="FF0000"/>
                </a:solidFill>
              </a:rPr>
              <a:t>加工方法视图：</a:t>
            </a:r>
            <a:r>
              <a:rPr lang="en-US" altLang="zh-CN" sz="4000">
                <a:solidFill>
                  <a:srgbClr val="FF0000"/>
                </a:solidFill>
              </a:rPr>
              <a:t>       </a:t>
            </a:r>
            <a:r>
              <a:rPr lang="zh-CN" altLang="en-US" sz="4000">
                <a:solidFill>
                  <a:srgbClr val="FF0000"/>
                </a:solidFill>
              </a:rPr>
              <a:t>用于控制刀路余量，</a:t>
            </a:r>
            <a:r>
              <a:rPr lang="en-US" altLang="zh-CN" sz="4000">
                <a:solidFill>
                  <a:srgbClr val="FF0000"/>
                </a:solidFill>
              </a:rPr>
              <a:t>                       </a:t>
            </a:r>
            <a:endParaRPr lang="en-US" altLang="zh-CN" sz="4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4000">
                <a:solidFill>
                  <a:srgbClr val="FF0000"/>
                </a:solidFill>
              </a:rPr>
              <a:t>                                   </a:t>
            </a:r>
            <a:r>
              <a:rPr lang="zh-CN" altLang="en-US" sz="4000">
                <a:solidFill>
                  <a:srgbClr val="FF0000"/>
                </a:solidFill>
              </a:rPr>
              <a:t>公差及钻孔方法</a:t>
            </a:r>
            <a:endParaRPr lang="zh-CN" altLang="en-US" sz="4000">
              <a:solidFill>
                <a:srgbClr val="FF0000"/>
              </a:solidFill>
            </a:endParaRPr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龙门加工中心运动方向示意图-卓越高老师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12080240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36195" y="-27305"/>
            <a:ext cx="12592050" cy="697357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COMMONDATA" val="eyJoZGlkIjoiYzk2YjgwYjJiYTEzOWQwMDRmZjQzM2IwZDQxMDk1Zm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WPS 演示</Application>
  <PresentationFormat>宽屏</PresentationFormat>
  <Paragraphs>46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数控加工中心分类及系统</vt:lpstr>
      <vt:lpstr>PowerPoint 演示文稿</vt:lpstr>
      <vt:lpstr>MCS工件座标系设置要点</vt:lpstr>
      <vt:lpstr>加工视频的含义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M℡指缝de青春ㄨ·</cp:lastModifiedBy>
  <cp:revision>185</cp:revision>
  <dcterms:created xsi:type="dcterms:W3CDTF">2019-06-19T02:08:00Z</dcterms:created>
  <dcterms:modified xsi:type="dcterms:W3CDTF">2024-02-21T03:29:14Z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548C3679F9C04746BA10FCE4B8B0F7FC</vt:lpwstr>
  </property>
</Properties>
</file>